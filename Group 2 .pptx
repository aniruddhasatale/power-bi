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1498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43491" y="796631"/>
            <a:ext cx="6251304" cy="2700706"/>
          </a:xfrm>
        </p:spPr>
        <p:txBody>
          <a:bodyPr bIns="0"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43491" y="3497337"/>
            <a:ext cx="6251304" cy="1011489"/>
          </a:xfrm>
        </p:spPr>
        <p:txBody>
          <a:bodyPr tIns="91440" bIns="91440">
            <a:normAutofit/>
          </a:bodyPr>
          <a:lstStyle>
            <a:lvl1pPr marL="0" indent="0" algn="ctr">
              <a:buNone/>
              <a:defRPr sz="1600" b="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443490" y="329308"/>
            <a:ext cx="3719283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77760" y="798973"/>
            <a:ext cx="802005" cy="503578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66949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82224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2" y="1756130"/>
            <a:ext cx="6251302" cy="1952270"/>
          </a:xfrm>
        </p:spPr>
        <p:txBody>
          <a:bodyPr anchor="b">
            <a:normAutofit/>
          </a:bodyPr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34318" y="3708400"/>
            <a:ext cx="6251302" cy="1110725"/>
          </a:xfrm>
        </p:spPr>
        <p:txBody>
          <a:bodyPr tIns="91440">
            <a:normAutofit/>
          </a:bodyPr>
          <a:lstStyle>
            <a:lvl1pPr marL="0" indent="0" algn="ctr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34154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890"/>
            <a:ext cx="6251303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3491" y="2013936"/>
            <a:ext cx="2965632" cy="34375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9162" y="2013936"/>
            <a:ext cx="2965424" cy="34375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04955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164"/>
            <a:ext cx="6251303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9550"/>
            <a:ext cx="2965631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3491" y="2824270"/>
            <a:ext cx="2965631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29270" y="2023004"/>
            <a:ext cx="2965523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29270" y="2821491"/>
            <a:ext cx="2965523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54882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02755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85575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9042" y="798973"/>
            <a:ext cx="2425950" cy="2406519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86656" y="798974"/>
            <a:ext cx="3506719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39042" y="3205492"/>
            <a:ext cx="2421501" cy="2248181"/>
          </a:xfrm>
        </p:spPr>
        <p:txBody>
          <a:bodyPr>
            <a:normAutofit/>
          </a:bodyPr>
          <a:lstStyle>
            <a:lvl1pPr marL="0" indent="0" algn="l">
              <a:buNone/>
              <a:defRPr sz="16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7868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4996501" y="482171"/>
            <a:ext cx="3511387" cy="5149101"/>
            <a:chOff x="4996501" y="482171"/>
            <a:chExt cx="3511387" cy="5149101"/>
          </a:xfrm>
        </p:grpSpPr>
        <p:sp>
          <p:nvSpPr>
            <p:cNvPr id="14" name="Rectangle 13"/>
            <p:cNvSpPr/>
            <p:nvPr/>
          </p:nvSpPr>
          <p:spPr>
            <a:xfrm>
              <a:off x="4996501" y="482171"/>
              <a:ext cx="3511387" cy="5149101"/>
            </a:xfrm>
            <a:prstGeom prst="rect">
              <a:avLst/>
            </a:prstGeom>
            <a:blipFill dpi="0" rotWithShape="1">
              <a:blip r:embed="rId2">
                <a:alphaModFix amt="30000"/>
              </a:blip>
              <a:srcRect/>
              <a:tile tx="0" ty="0" sx="100000" sy="100000" flip="none" algn="ctr"/>
            </a:blip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 extrusionH="76200" contourW="12700" prstMaterial="matte">
              <a:bevelT w="152400" h="50800" prst="softRound"/>
              <a:extrusionClr>
                <a:schemeClr val="tx2"/>
              </a:extrusionClr>
              <a:contourClr>
                <a:schemeClr val="bg2"/>
              </a:contourClr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Rectangle 14"/>
            <p:cNvSpPr/>
            <p:nvPr/>
          </p:nvSpPr>
          <p:spPr>
            <a:xfrm>
              <a:off x="5312152" y="812506"/>
              <a:ext cx="2883013" cy="4479361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38100" cmpd="sng">
              <a:solidFill>
                <a:schemeClr val="tx2">
                  <a:lumMod val="25000"/>
                </a:schemeClr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149" y="1129513"/>
            <a:ext cx="3080490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40128" y="1122543"/>
            <a:ext cx="2234998" cy="3866327"/>
          </a:xfrm>
          <a:solidFill>
            <a:schemeClr val="bg1">
              <a:lumMod val="50000"/>
              <a:lumOff val="50000"/>
              <a:alpha val="80000"/>
            </a:schemeClr>
          </a:solidFill>
          <a:ln w="9525" cap="sq">
            <a:noFill/>
            <a:miter lim="800000"/>
          </a:ln>
          <a:effectLst/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3200" dirty="0"/>
            </a:lvl1pPr>
          </a:lstStyle>
          <a:p>
            <a:pPr lvl="0" algn="ctr" defTabSz="914400">
              <a:spcBef>
                <a:spcPts val="1800"/>
              </a:spcBef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3492" y="3145992"/>
            <a:ext cx="3076077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36664" y="5469857"/>
            <a:ext cx="3082905" cy="320123"/>
          </a:xfrm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9/28/2025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37530" y="318641"/>
            <a:ext cx="3082083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16515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53860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92373" y="798974"/>
            <a:ext cx="1103027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3492" y="798974"/>
            <a:ext cx="4985762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40713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3622291"/>
            <a:ext cx="9144000" cy="251227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>
                  <a:alpha val="8000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1" name="Picture 10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69" b="-2769"/>
          <a:stretch/>
        </p:blipFill>
        <p:spPr>
          <a:xfrm>
            <a:off x="0" y="6135624"/>
            <a:ext cx="9144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43491" y="804520"/>
            <a:ext cx="6251303" cy="10492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5733"/>
            <a:ext cx="6251303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326502" y="330370"/>
            <a:ext cx="2368292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43491" y="329308"/>
            <a:ext cx="3719283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7725" y="798973"/>
            <a:ext cx="795746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2" name="Straight Connector 11"/>
          <p:cNvCxnSpPr/>
          <p:nvPr/>
        </p:nvCxnSpPr>
        <p:spPr>
          <a:xfrm>
            <a:off x="0" y="6144768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9180065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6858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accent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6858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dirty="0"/>
              <a:t>Connecting to Data Sources in Power BI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dirty="0"/>
              <a:t>Excel, SQL, Web &amp; APIs</a:t>
            </a:r>
          </a:p>
          <a:p>
            <a:endParaRPr dirty="0"/>
          </a:p>
          <a:p>
            <a:r>
              <a:rPr dirty="0"/>
              <a:t>Prepared by: </a:t>
            </a:r>
            <a:r>
              <a:rPr lang="en-US" dirty="0"/>
              <a:t>Group 2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Power BI Data 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400" dirty="0"/>
              <a:t>- Power BI can connect to multiple data sources</a:t>
            </a:r>
          </a:p>
          <a:p>
            <a:r>
              <a:rPr sz="2400" dirty="0"/>
              <a:t>- Examples: Excel, SQL Server, Web, APIs, SharePoint</a:t>
            </a:r>
          </a:p>
          <a:p>
            <a:r>
              <a:rPr sz="2400" dirty="0"/>
              <a:t>- Data connectivity is essential for visualization &amp; reporting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Types of Connections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400" dirty="0"/>
              <a:t>- Import: Brings data into Power BI</a:t>
            </a:r>
          </a:p>
          <a:p>
            <a:r>
              <a:rPr sz="2400" dirty="0"/>
              <a:t>- </a:t>
            </a:r>
            <a:r>
              <a:rPr sz="2400" dirty="0" err="1"/>
              <a:t>DirectQuery</a:t>
            </a:r>
            <a:r>
              <a:rPr sz="2400" dirty="0"/>
              <a:t>: Queries data in real time</a:t>
            </a:r>
          </a:p>
          <a:p>
            <a:r>
              <a:rPr sz="2400" dirty="0"/>
              <a:t>- Live Connection: Uses Analysis Services models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Connecting to Excel –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400" dirty="0"/>
              <a:t>- Excel is the most common source</a:t>
            </a:r>
          </a:p>
          <a:p>
            <a:r>
              <a:rPr sz="2400" dirty="0"/>
              <a:t>- Supports structured tables, ranges, Power Query</a:t>
            </a:r>
          </a:p>
          <a:p>
            <a:r>
              <a:rPr sz="2400" dirty="0"/>
              <a:t>- Easy integration with existing files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Steps to Connect Excel in Power BI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400" dirty="0"/>
              <a:t>1. Open Power BI Desktop</a:t>
            </a:r>
          </a:p>
          <a:p>
            <a:r>
              <a:rPr sz="2400" dirty="0"/>
              <a:t>2. Select Get Data → Excel</a:t>
            </a:r>
          </a:p>
          <a:p>
            <a:r>
              <a:rPr sz="2400" dirty="0"/>
              <a:t>3. Browse &amp; select file</a:t>
            </a:r>
          </a:p>
          <a:p>
            <a:r>
              <a:rPr sz="2400" dirty="0"/>
              <a:t>4. Choose sheet/table</a:t>
            </a:r>
          </a:p>
          <a:p>
            <a:r>
              <a:rPr sz="2400" dirty="0"/>
              <a:t>5. Load or transform data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Benefits of Excel Integration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400" dirty="0"/>
              <a:t>- Reuse existing Excel reports</a:t>
            </a:r>
          </a:p>
          <a:p>
            <a:r>
              <a:rPr sz="2400" dirty="0"/>
              <a:t>- Combine multiple sheets</a:t>
            </a:r>
          </a:p>
          <a:p>
            <a:r>
              <a:rPr sz="2400" dirty="0"/>
              <a:t>- Supports formulas, pivot tables, named ranges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Limitations of Excel Connection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400" dirty="0"/>
              <a:t>- Large files may slow performance</a:t>
            </a:r>
          </a:p>
          <a:p>
            <a:r>
              <a:rPr sz="2400" dirty="0"/>
              <a:t>- Limited real-time updates</a:t>
            </a:r>
          </a:p>
          <a:p>
            <a:r>
              <a:rPr sz="2400" dirty="0"/>
              <a:t>- Dependency on file path or OneDrive/SharePoint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SQL Server Connection –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400" dirty="0"/>
              <a:t>- Power BI integrates with SQL Server Database</a:t>
            </a:r>
          </a:p>
          <a:p>
            <a:r>
              <a:rPr sz="2400" dirty="0"/>
              <a:t>- Best for large-scale business data</a:t>
            </a:r>
          </a:p>
          <a:p>
            <a:r>
              <a:rPr sz="2400" dirty="0"/>
              <a:t>- Supports Import &amp; </a:t>
            </a:r>
            <a:r>
              <a:rPr sz="2400" dirty="0" err="1"/>
              <a:t>DirectQuery</a:t>
            </a:r>
            <a:endParaRPr sz="2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Steps to Connect SQL in Power BI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400" dirty="0"/>
              <a:t>1. Select Get Data → SQL Server</a:t>
            </a:r>
          </a:p>
          <a:p>
            <a:r>
              <a:rPr sz="2400" dirty="0"/>
              <a:t>2. Enter server name &amp; database</a:t>
            </a:r>
          </a:p>
          <a:p>
            <a:r>
              <a:rPr sz="2400" dirty="0"/>
              <a:t>3. Choose Import or </a:t>
            </a:r>
            <a:r>
              <a:rPr sz="2400" dirty="0" err="1"/>
              <a:t>DirectQuery</a:t>
            </a:r>
            <a:endParaRPr sz="2400" dirty="0"/>
          </a:p>
          <a:p>
            <a:r>
              <a:rPr sz="2400" dirty="0"/>
              <a:t>4. Apply authentication</a:t>
            </a:r>
          </a:p>
          <a:p>
            <a:r>
              <a:rPr sz="2400" dirty="0"/>
              <a:t>5. Load data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Advantages of SQL Server Connection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400" dirty="0"/>
              <a:t>- Handles large datasets efficiently</a:t>
            </a:r>
          </a:p>
          <a:p>
            <a:r>
              <a:rPr sz="2400" dirty="0"/>
              <a:t>- Real-time queries with </a:t>
            </a:r>
            <a:r>
              <a:rPr sz="2400" dirty="0" err="1"/>
              <a:t>DirectQuery</a:t>
            </a:r>
            <a:endParaRPr sz="2400" dirty="0"/>
          </a:p>
          <a:p>
            <a:r>
              <a:rPr sz="2400" dirty="0"/>
              <a:t>- Secure authentication methods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Challenges with SQL Connection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400" dirty="0"/>
              <a:t>- Requires technical setup (server, credentials)</a:t>
            </a:r>
          </a:p>
          <a:p>
            <a:r>
              <a:rPr sz="2400" dirty="0"/>
              <a:t>- Performance depends on network &amp; query optimization</a:t>
            </a:r>
          </a:p>
          <a:p>
            <a:r>
              <a:rPr sz="2400" dirty="0"/>
              <a:t>- Complex schema may require modeling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Connecting to Web Data –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400" dirty="0"/>
              <a:t>- Web sources include websites, REST endpoints</a:t>
            </a:r>
          </a:p>
          <a:p>
            <a:r>
              <a:rPr sz="2400" dirty="0"/>
              <a:t>- Useful for live data (e.g., stock prices, weather)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Steps to Connect Web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400" dirty="0"/>
              <a:t>1. Select Get Data → Web</a:t>
            </a:r>
          </a:p>
          <a:p>
            <a:r>
              <a:rPr sz="2400" dirty="0"/>
              <a:t>2. Enter URL (HTML page/JSON/CSV)</a:t>
            </a:r>
          </a:p>
          <a:p>
            <a:r>
              <a:rPr sz="2400" dirty="0"/>
              <a:t>3. Use Power Query to clean data</a:t>
            </a:r>
          </a:p>
          <a:p>
            <a:r>
              <a:rPr sz="2400" dirty="0"/>
              <a:t>4. Load into Power BI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Pros of Web Data Connection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400" dirty="0"/>
              <a:t>- Access to real-time &amp; open datasets</a:t>
            </a:r>
          </a:p>
          <a:p>
            <a:r>
              <a:rPr sz="2400" dirty="0"/>
              <a:t>- Supports JSON, XML, HTML tables</a:t>
            </a:r>
          </a:p>
          <a:p>
            <a:r>
              <a:rPr sz="2400" dirty="0"/>
              <a:t>- Flexible for research &amp; analytics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Cons of Web Data Connection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400" dirty="0"/>
              <a:t>- Data format may be unstructured</a:t>
            </a:r>
          </a:p>
          <a:p>
            <a:r>
              <a:rPr sz="2400" dirty="0"/>
              <a:t>- API rate limits may apply</a:t>
            </a:r>
          </a:p>
          <a:p>
            <a:r>
              <a:rPr sz="2400" dirty="0"/>
              <a:t>- Reliability depends on source availability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Connecting to APIs –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400" dirty="0"/>
              <a:t>- APIs provide structured data via endpoints</a:t>
            </a:r>
          </a:p>
          <a:p>
            <a:r>
              <a:rPr sz="2400" dirty="0"/>
              <a:t>- Mostly used with REST APIs</a:t>
            </a:r>
          </a:p>
          <a:p>
            <a:r>
              <a:rPr sz="2400" dirty="0"/>
              <a:t>- Supports authentication (API keys, OAuth)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Steps to Connect to APIs in Power BI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400" dirty="0"/>
              <a:t>1. Get API endpoint &amp; authentication details</a:t>
            </a:r>
          </a:p>
          <a:p>
            <a:r>
              <a:rPr sz="2400" dirty="0"/>
              <a:t>2. Use Get Data → Web option</a:t>
            </a:r>
          </a:p>
          <a:p>
            <a:r>
              <a:rPr sz="2400" dirty="0"/>
              <a:t>3. Enter API URL with parameters</a:t>
            </a:r>
          </a:p>
          <a:p>
            <a:r>
              <a:rPr sz="2400" dirty="0"/>
              <a:t>4. Apply headers if needed</a:t>
            </a:r>
          </a:p>
          <a:p>
            <a:r>
              <a:rPr sz="2400" dirty="0"/>
              <a:t>5. Transform JSON/XML in Power Query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Advantages of API Connection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400" dirty="0"/>
              <a:t>- Real-time data from external systems</a:t>
            </a:r>
          </a:p>
          <a:p>
            <a:r>
              <a:rPr sz="2400" dirty="0"/>
              <a:t>- Scalable &amp; automated</a:t>
            </a:r>
          </a:p>
          <a:p>
            <a:r>
              <a:rPr sz="2400" dirty="0"/>
              <a:t>- Rich datasets (finance, social media, IoT)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Challenges with API Connection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400" dirty="0"/>
              <a:t>- Requires technical knowledge (endpoints, headers)</a:t>
            </a:r>
          </a:p>
          <a:p>
            <a:r>
              <a:rPr sz="2400" dirty="0"/>
              <a:t>- Limited by API quotas/rate limits</a:t>
            </a:r>
          </a:p>
          <a:p>
            <a:r>
              <a:rPr sz="2400" dirty="0"/>
              <a:t>- Changing APIs may break dashboards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sz="2400" dirty="0"/>
              <a:t>- Power BI supports diverse data connections</a:t>
            </a:r>
          </a:p>
          <a:p>
            <a:r>
              <a:rPr sz="2400" dirty="0"/>
              <a:t>- Excel → Easy &amp; common for beginners</a:t>
            </a:r>
          </a:p>
          <a:p>
            <a:r>
              <a:rPr sz="2400" dirty="0"/>
              <a:t>- SQL Server → Enterprise-scale data</a:t>
            </a:r>
          </a:p>
          <a:p>
            <a:r>
              <a:rPr sz="2400" dirty="0"/>
              <a:t>- Web &amp; APIs → Real-time, dynamic data</a:t>
            </a:r>
          </a:p>
          <a:p>
            <a:r>
              <a:rPr sz="2400" dirty="0"/>
              <a:t>- Choosing the right source ensures better insights &amp; performance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9D5"/>
      </a:lt2>
      <a:accent1>
        <a:srgbClr val="FB8C29"/>
      </a:accent1>
      <a:accent2>
        <a:srgbClr val="F2C351"/>
      </a:accent2>
      <a:accent3>
        <a:srgbClr val="D0CBA5"/>
      </a:accent3>
      <a:accent4>
        <a:srgbClr val="A2C476"/>
      </a:accent4>
      <a:accent5>
        <a:srgbClr val="57C293"/>
      </a:accent5>
      <a:accent6>
        <a:srgbClr val="43BFDE"/>
      </a:accent6>
      <a:hlink>
        <a:srgbClr val="FBAE29"/>
      </a:hlink>
      <a:folHlink>
        <a:srgbClr val="EDC47E"/>
      </a:folHlink>
    </a:clrScheme>
    <a:fontScheme name="Gallery">
      <a:majorFont>
        <a:latin typeface="Rockwell" panose="020606030202050204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BB5F5D82-B5E9-469E-A815-C655ED4AF243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7</TotalTime>
  <Words>581</Words>
  <Application>Microsoft Office PowerPoint</Application>
  <PresentationFormat>On-screen Show (4:3)</PresentationFormat>
  <Paragraphs>88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Rockwell</vt:lpstr>
      <vt:lpstr>Gallery</vt:lpstr>
      <vt:lpstr>Connecting to Data Sources in Power BI</vt:lpstr>
      <vt:lpstr>Introduction to Power BI Data Sources</vt:lpstr>
      <vt:lpstr>Types of Connections</vt:lpstr>
      <vt:lpstr>Connecting to Excel – Overview</vt:lpstr>
      <vt:lpstr>Steps to Connect Excel in Power BI</vt:lpstr>
      <vt:lpstr>Benefits of Excel Integration</vt:lpstr>
      <vt:lpstr>Limitations of Excel Connection</vt:lpstr>
      <vt:lpstr>SQL Server Connection – Overview</vt:lpstr>
      <vt:lpstr>Steps to Connect SQL in Power BI</vt:lpstr>
      <vt:lpstr>Advantages of SQL Server Connection</vt:lpstr>
      <vt:lpstr>Challenges with SQL Connection</vt:lpstr>
      <vt:lpstr>Connecting to Web Data – Overview</vt:lpstr>
      <vt:lpstr>Steps to Connect Web Data</vt:lpstr>
      <vt:lpstr>Pros of Web Data Connection</vt:lpstr>
      <vt:lpstr>Cons of Web Data Connection</vt:lpstr>
      <vt:lpstr>Connecting to APIs – Overview</vt:lpstr>
      <vt:lpstr>Steps to Connect to APIs in Power BI</vt:lpstr>
      <vt:lpstr>Advantages of API Connection</vt:lpstr>
      <vt:lpstr>Challenges with API Connection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RISHIKESH BAWASKAR</cp:lastModifiedBy>
  <cp:revision>2</cp:revision>
  <dcterms:created xsi:type="dcterms:W3CDTF">2013-01-27T09:14:16Z</dcterms:created>
  <dcterms:modified xsi:type="dcterms:W3CDTF">2025-09-28T11:13:25Z</dcterms:modified>
  <cp:category/>
</cp:coreProperties>
</file>